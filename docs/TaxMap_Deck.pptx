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D2B9CFB9-7F09-4B1D-4A0F-E01AECFA4A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6" y="-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619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grey frames with screenshots: results page at 820 px (large), a set-aside card (top right), the receipts table (bottom right). Insert &gt; Pictures, then resize to the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1090879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Tax Map  ·  ISEGUN  ·  Open Agent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Tax Map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What a Lagos business owes under Nigeria's 2025 tax laws, with the section behind every line, checked by a second agent.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D8"/>
                </a:solidFill>
              </a:rPr>
              <a:t>Tofarati Farinu  ·  Team ISEGUN (solo)  ·  Track 2: The Agent That Can Explain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D8"/>
                </a:solidFill>
              </a:rPr>
              <a:t>Built with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5532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DEFD9"/>
          </a:solidFill>
          <a:ln w="12700">
            <a:solidFill>
              <a:srgbClr val="DDE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37360" y="5532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4D33"/>
                </a:solidFill>
              </a:rPr>
              <a:t>Zetaris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55321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DDF2"/>
          </a:solidFill>
          <a:ln w="12700">
            <a:solidFill>
              <a:srgbClr val="E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91840" y="5532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A5A"/>
                </a:solidFill>
              </a:rPr>
              <a:t>Meterless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55321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0" y="5532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4D33"/>
                </a:solidFill>
              </a:rPr>
              <a:t>NVIDIA Nemotron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5532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7E1D7"/>
          </a:solidFill>
          <a:ln w="12700">
            <a:solidFill>
              <a:srgbClr val="F7E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223760" y="5532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2E1C"/>
                </a:solidFill>
              </a:rPr>
              <a:t>Cursor ·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 and who it is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Nigeria's 2025 reform rewrote the tax code into four federal Acts, and obligations still arrive from three tiers of government. A shop owner in Ikeja has no single place to read what applies to her. A general chatbot answers from memory: no section, no way to check, and the law changed this year.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Who it is for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2788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Lagos SME owners and their accountants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Junior revenue officers who field these questions daily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Anyone building a compliance tool who needs a statute-grounded pattern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32004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38912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they get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794760"/>
            <a:ext cx="2788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applies to them, and what they are exempt from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exact section behind each line, openable in full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second check that sets aside what the law does not support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41732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Three tiers, one question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192024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D9EFE4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927848" y="2029968"/>
            <a:ext cx="3419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Federal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Nigeria Revenue Service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VAT, companies income tax, development levy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333756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27848" y="3447288"/>
            <a:ext cx="3419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Lagos State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Lagos State Internal Revenue Service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 income tax, PAYE, premises registration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27848" y="4864608"/>
            <a:ext cx="3419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Ikeja LGA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Ikeja Local Government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Shop rates, tenement rate, signboard permits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</a:rPr>
              <a:t>One rule: the statute text is the source of truth, the model is the reader, and the code enforces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24784" cy="1737360"/>
          </a:xfrm>
          <a:prstGeom prst="roundRect">
            <a:avLst>
              <a:gd name="adj" fmla="val 4211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Researcher agent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767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Navigates a generated map of the Acts, browses Parts, reads sections in full, drafts obligations and exemptions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66032" y="2834640"/>
            <a:ext cx="320040" cy="274320"/>
          </a:xfrm>
          <a:prstGeom prst="rightArrow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67784" y="2103120"/>
            <a:ext cx="3224784" cy="1737360"/>
          </a:xfrm>
          <a:prstGeom prst="roundRect">
            <a:avLst>
              <a:gd name="adj" fmla="val 4211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96384" y="22860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Critic agent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96384" y="2697480"/>
            <a:ext cx="2767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Judges every line against the quoted text and the Acts' own definitions; keeps, qualifies or sets aside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93736" y="2834640"/>
            <a:ext cx="320040" cy="274320"/>
          </a:xfrm>
          <a:prstGeom prst="rightArrow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95488" y="2103120"/>
            <a:ext cx="3224784" cy="1737360"/>
          </a:xfrm>
          <a:prstGeom prst="roundRect">
            <a:avLst>
              <a:gd name="adj" fmla="val 4211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24088" y="22860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Answer page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4088" y="2697480"/>
            <a:ext cx="2767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Plain-words lines, the law behind each, a tax map by collecting authority, the receipts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the code enforces, not the prompt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26280"/>
            <a:ext cx="53172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 before cite: a claim may cite only a section fetched in full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Verified quotes: the Critic's quote must be verbatim in the cited 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Definitions attached by code: 271 terms from the interpretation sections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4526280"/>
            <a:ext cx="53172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Claims-only coverage checklist across six obligation areas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Levies: "may collect", never an amount; relevance to the business filtered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Placement by collecting authority under NTAA s.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Agent workflow</a:t>
            </a:r>
            <a:endParaRPr lang="en-US" sz="3200" dirty="0"/>
          </a:p>
        </p:txBody>
      </p:sp>
      <p:pic>
        <p:nvPicPr>
          <p:cNvPr id="3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25880"/>
            <a:ext cx="1005840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Technical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24784" cy="2377440"/>
          </a:xfrm>
          <a:prstGeom prst="roundRect">
            <a:avLst>
              <a:gd name="adj" fmla="val 3077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2767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Node 20, TypeScript, Express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Plain HTML, CSS and JS; no framework, no CDN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Server-sent events stream each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245 tests (vitest); none touch the network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67784" y="1417320"/>
            <a:ext cx="3224784" cy="2377440"/>
          </a:xfrm>
          <a:prstGeom prst="roundRect">
            <a:avLst>
              <a:gd name="adj" fmla="val 3077"/>
            </a:avLst>
          </a:prstGeom>
          <a:solidFill>
            <a:srgbClr val="DDEFD9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96384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96384" y="2011680"/>
            <a:ext cx="2767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pdfplumber parser: five Acts to section-level 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Zetaris REST tables over pinned GitHub raw 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Cached views: 40 s to 0.4 s per query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5488" y="1417320"/>
            <a:ext cx="3224784" cy="2377440"/>
          </a:xfrm>
          <a:prstGeom prst="roundRect">
            <a:avLst>
              <a:gd name="adj" fmla="val 3077"/>
            </a:avLst>
          </a:prstGeom>
          <a:solidFill>
            <a:srgbClr val="E8DDF2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324088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Models and memory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4088" y="2011680"/>
            <a:ext cx="2767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Nemotron 3.5 Lightning 30B: Researcher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Nemotron 3 Ultra 550B: Critic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Meterless Nightshift 1.2.3 gateway, signed receipts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Meterless H-MEM and World Model engines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51960"/>
            <a:ext cx="2521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454 + 39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0176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statute sections and schedule items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35858" y="4251960"/>
            <a:ext cx="2521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271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435858" y="500176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defined terms attached automatically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1636" y="4251960"/>
            <a:ext cx="2521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7/7 · 8/8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500176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engine conformance, H-MEM and World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27414" y="4251960"/>
            <a:ext cx="2521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245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9027414" y="500176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tests passing in a clean clone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 used Zetaris and Meterless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17236" cy="3200400"/>
          </a:xfrm>
          <a:prstGeom prst="roundRect">
            <a:avLst>
              <a:gd name="adj" fmla="val 2286"/>
            </a:avLst>
          </a:prstGeom>
          <a:solidFill>
            <a:srgbClr val="DDEFD9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Zetaris: the data layer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8600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Five Acts parsed to JSON and served from pinned GitHub commits as Lightning REST tables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Views taxmap.sections, taxmap.acts and taxmap.levies; the agent writes ordinary SQL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Caching the views cut queries from 40 s to 0.4 s; the app re-caches on startup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judge can run the agent's exact SQL in the Zetaris SQL Editor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1636" y="1417320"/>
            <a:ext cx="5317236" cy="3200400"/>
          </a:xfrm>
          <a:prstGeom prst="roundRect">
            <a:avLst>
              <a:gd name="adj" fmla="val 2286"/>
            </a:avLst>
          </a:prstGeom>
          <a:solidFill>
            <a:srgbClr val="E8DDF2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60236" y="16002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Meterless: the power layer and the engines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60236" y="2011680"/>
            <a:ext cx="48600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Nightshift is the app's primary AI provider: every model call goes through it, lane-pinned, with a signed compute receipt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H-MEM: tiered memory, hashed embeddings, forgetting curve, cross-run promotion, JSONL trust ledger (7/7)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World Model: content-hashed graph, idempotent 10-stage ingest, claim context builder (8/8)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Three bugs reported with repros; two fixed in Nightshift 1.2.3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Zetaris answers "what does the law say"; Meterless carries every model call and remembers what the agents found and verified.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was different about how I used the sponsors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24784" cy="3291840"/>
          </a:xfrm>
          <a:prstGeom prst="roundRect">
            <a:avLst>
              <a:gd name="adj" fmla="val 2268"/>
            </a:avLst>
          </a:prstGeom>
          <a:solidFill>
            <a:srgbClr val="D9EFE4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NVIDIA Nemotron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27675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agents, two Nemotron models, one job each: a fast drafter and a large judge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receipt names the model; the demo shows a 550B judge striking a 30B draft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other model anywhere in the product path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67784" y="1417320"/>
            <a:ext cx="3224784" cy="3291840"/>
          </a:xfrm>
          <a:prstGeom prst="roundRect">
            <a:avLst>
              <a:gd name="adj" fmla="val 2268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96384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Grounding by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96384" y="2011680"/>
            <a:ext cx="27675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Critic's quote is checked against the statute text in code, so a hallucinated citation cannot survive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Definitions are attached by code from the Acts' own interpretation sections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Levies: "may collect", never an amount; placement by NTAA s.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5488" y="1417320"/>
            <a:ext cx="3224784" cy="3291840"/>
          </a:xfrm>
          <a:prstGeom prst="roundRect">
            <a:avLst>
              <a:gd name="adj" fmla="val 2268"/>
            </a:avLst>
          </a:prstGeom>
          <a:solidFill>
            <a:srgbClr val="F7E1D7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324088" y="1600200"/>
            <a:ext cx="276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Cursor and Claude Code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4088" y="2011680"/>
            <a:ext cx="27675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from written prompts; I reviewed every file and ran every test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organisers dropped the Cursor requirement on 22 Oct; both tools are disclosed in the README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LICENSE, NOTICE and SOURCES with document hashes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Where each sponsor sits in the product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DDEFD9"/>
          </a:solidFill>
          <a:ln w="12700">
            <a:solidFill>
              <a:srgbClr val="DDE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5440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4D33"/>
                </a:solidFill>
              </a:rPr>
              <a:t>Zetaris: the law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5440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8DDF2"/>
          </a:solidFill>
          <a:ln w="12700">
            <a:solidFill>
              <a:srgbClr val="E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017520" y="5440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A5A"/>
                </a:solidFill>
              </a:rPr>
              <a:t>Meterless: calls + memory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5440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852160" y="5440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4D33"/>
                </a:solidFill>
              </a:rPr>
              <a:t>NVIDIA: both agents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54406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7E1D7"/>
          </a:solidFill>
          <a:ln w="12700">
            <a:solidFill>
              <a:srgbClr val="F7E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0" y="5440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2E1C"/>
                </a:solidFill>
              </a:rPr>
              <a:t>Cursor · Claude Code: the build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Product visuals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858000" cy="4572000"/>
          </a:xfrm>
          <a:prstGeom prst="rect">
            <a:avLst/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Results page: summary, tax map by authority, claim cards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417320"/>
            <a:ext cx="3776472" cy="2103120"/>
          </a:xfrm>
          <a:prstGeom prst="rect">
            <a:avLst/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0" y="35661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 set-aside line with its reason and the disapplying quote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3886200"/>
            <a:ext cx="3776472" cy="2103120"/>
          </a:xfrm>
          <a:prstGeom prst="rect">
            <a:avLst/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0" y="603504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Receipts: every call on Nemotron, signed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C6D983-6DC1-8781-DE53-02B0EB628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858000" cy="4572000"/>
          </a:xfrm>
          <a:prstGeom prst="rect">
            <a:avLst/>
          </a:prstGeom>
        </p:spPr>
      </p:pic>
      <p:pic>
        <p:nvPicPr>
          <p:cNvPr id="11" name="Picture 10" descr="pasted-image-1792933733885.png">
            <a:extLst>
              <a:ext uri="{FF2B5EF4-FFF2-40B4-BE49-F238E27FC236}">
                <a16:creationId xmlns:a16="http://schemas.microsoft.com/office/drawing/2014/main" id="{53C77E26-54B0-1A11-4B7B-1060969A4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1" y="1422251"/>
            <a:ext cx="3776472" cy="21439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91215F-DB3E-1F43-B1B9-C15D0A106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886200"/>
            <a:ext cx="3776472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Lagos State and local law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Load the Lagos State Harmonised Taxes and Levies Law and Ikeja's bye-laws so the State and LGA columns cite local instruments, with rates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1636" y="141732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60236" y="16002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Schedules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60236" y="2011680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Parse the Schedules of the 2025 Acts (rates and allocations) so the agents can cite them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3246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Instant answers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57600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Precompute answers for common business profiles from the World Model; serve them at once, dated, with a Run again button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306324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EEF5EF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60236" y="3246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More profiles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3657600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Companies, partnerships and other States; owner residence separate from business location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F4F7F5"/>
          </a:solidFill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89204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Known limits today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0352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Federal Acts plus the 1998 allocation only; live runs take 6 to 12 minutes and vary between runs; sample mode replays a recorded run; not legal advice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 line cites the law.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 call has a receipt.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github.com/tman6290/tax-map  ·  Tofarati Farinu  ·  ISEGUN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xMap">
  <a:themeElements>
    <a:clrScheme name="TaxMap">
      <a:dk1>
        <a:srgbClr val="111111"/>
      </a:dk1>
      <a:lt1>
        <a:srgbClr val="FFFFFF"/>
      </a:lt1>
      <a:dk2>
        <a:srgbClr val="0E4D33"/>
      </a:dk2>
      <a:lt2>
        <a:srgbClr val="EEF5EF"/>
      </a:lt2>
      <a:accent1>
        <a:srgbClr val="008751"/>
      </a:accent1>
      <a:accent2>
        <a:srgbClr val="006B40"/>
      </a:accent2>
      <a:accent3>
        <a:srgbClr val="B7791F"/>
      </a:accent3>
      <a:accent4>
        <a:srgbClr val="B00020"/>
      </a:accent4>
      <a:accent5>
        <a:srgbClr val="6B7280"/>
      </a:accent5>
      <a:accent6>
        <a:srgbClr val="D9EFE4"/>
      </a:accent6>
      <a:hlink>
        <a:srgbClr val="006B40"/>
      </a:hlink>
      <a:folHlink>
        <a:srgbClr val="006B40"/>
      </a:folHlink>
    </a:clrScheme>
    <a:fontScheme name="Tax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1100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TaxMap</vt:lpstr>
      <vt:lpstr>Tax Map</vt:lpstr>
      <vt:lpstr>The problem and who it is for</vt:lpstr>
      <vt:lpstr>The solution</vt:lpstr>
      <vt:lpstr>Agent workflow</vt:lpstr>
      <vt:lpstr>Technical stack</vt:lpstr>
      <vt:lpstr>How I used Zetaris and Meterless</vt:lpstr>
      <vt:lpstr>What was different about how I used the sponsors</vt:lpstr>
      <vt:lpstr>Product visuals</vt:lpstr>
      <vt:lpstr>Future enhancements</vt:lpstr>
      <vt:lpstr>Every line cites the law. Every call has a receipt.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Map</dc:title>
  <dc:subject>PptxGenJS Presentation</dc:subject>
  <dc:creator>Tofarati Farinu</dc:creator>
  <cp:lastModifiedBy>Tofarati Farinu</cp:lastModifiedBy>
  <cp:revision>2</cp:revision>
  <cp:lastPrinted>2026-10-25T15:38:24Z</cp:lastPrinted>
  <dcterms:created xsi:type="dcterms:W3CDTF">2026-10-25T15:19:58Z</dcterms:created>
  <dcterms:modified xsi:type="dcterms:W3CDTF">2026-10-25T17:54:31Z</dcterms:modified>
</cp:coreProperties>
</file>